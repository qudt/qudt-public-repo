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1207" r:id="rId16"/>
    <p:sldId id="1208" r:id="rId17"/>
    <p:sldId id="1209" r:id="rId18"/>
    <p:sldId id="1210" r:id="rId19"/>
    <p:sldId id="1211" r:id="rId20"/>
    <p:sldId id="1212" r:id="rId21"/>
    <p:sldId id="1213" r:id="rId22"/>
    <p:sldId id="1214" r:id="rId23"/>
    <p:sldId id="1215" r:id="rId24"/>
    <p:sldId id="1216" r:id="rId25"/>
    <p:sldId id="1217" r:id="rId26"/>
    <p:sldId id="1218" r:id="rId27"/>
    <p:sldId id="1219" r:id="rId28"/>
    <p:sldId id="1220" r:id="rId29"/>
    <p:sldId id="1221" r:id="rId30"/>
    <p:sldId id="1222" r:id="rId31"/>
    <p:sldId id="1223" r:id="rId32"/>
    <p:sldId id="1224" r:id="rId33"/>
    <p:sldId id="12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6"/>
    <p:restoredTop sz="96137"/>
  </p:normalViewPr>
  <p:slideViewPr>
    <p:cSldViewPr snapToGrid="0">
      <p:cViewPr varScale="1">
        <p:scale>
          <a:sx n="117" d="100"/>
          <a:sy n="117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EA85-6B79-5E4B-8F0E-8175A85662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48F6E-3AA4-4949-B454-A5A901963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3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98F74-EDF0-8C46-9115-B348A8CC7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1BC27-08F7-2547-BEB5-4E872792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0378-770D-2A4F-8470-33D0B672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20F45-7C04-0B49-A5C3-FA99CD1A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6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56" y="136526"/>
            <a:ext cx="10378504" cy="963070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33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58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04" y="136526"/>
            <a:ext cx="10309056" cy="1032518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rgbClr val="00FF78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B5D4-BAFE-1A44-86BC-BB13D22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6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2970AE-62BF-191C-57AD-C121882714D5}"/>
              </a:ext>
            </a:extLst>
          </p:cNvPr>
          <p:cNvSpPr/>
          <p:nvPr userDrawn="1"/>
        </p:nvSpPr>
        <p:spPr>
          <a:xfrm>
            <a:off x="965522" y="1980445"/>
            <a:ext cx="10515600" cy="2083443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D33CF-8059-524E-8A6A-B44C3823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3145" cy="132556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>
              <a:defRPr lang="en-US" sz="4000" b="1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D423-216E-564A-9FE3-9BD48827B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F16-CD58-0B49-9153-A654ADE3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5B42-7B74-CC4B-AA17-A37F2C68C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5A3F-8B7B-884C-B4E0-6EE36763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29356-D14A-0B45-A402-FF829AFC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20th May,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AEB94-6C15-5A4C-AF51-78BA2A5F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QUDT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FAC2C-846A-D341-AD1C-7C6DFB41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683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86F38-70A7-7842-AE19-B22A013B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029" y="136525"/>
            <a:ext cx="10475089" cy="1044093"/>
          </a:xfrm>
          <a:prstGeom prst="rect">
            <a:avLst/>
          </a:prstGeo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D3811-064E-D745-8151-8B73C3885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721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20th May,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C45A-6501-2046-8B07-53B66142E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QUDT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C906-59DD-474D-9A44-66BD24B2C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4566-E730-314F-8C05-3849AEE21A5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3D683D06-058C-9242-9E58-FC5E0EFBA09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4881" y="419878"/>
            <a:ext cx="1301961" cy="4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7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4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>
          <a:solidFill>
            <a:srgbClr val="00FF7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mailto:info@interoptx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1DD8-173F-4108-BCE6-B941ED773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146" y="2853467"/>
            <a:ext cx="9144000" cy="2405371"/>
          </a:xfrm>
        </p:spPr>
        <p:txBody>
          <a:bodyPr lIns="91440" tIns="45720" rIns="91440" bIns="45720" anchor="t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4400" dirty="0"/>
              <a:t>Quantities, Units, Dimensions and Types</a:t>
            </a:r>
            <a:endParaRPr lang="en-US" sz="14400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800" dirty="0">
                <a:ea typeface="Calibri"/>
                <a:cs typeface="Calibri"/>
              </a:rPr>
              <a:t>September 22, 2026</a:t>
            </a:r>
            <a:endParaRPr lang="en-US" sz="9600" dirty="0">
              <a:ea typeface="Calibri"/>
              <a:cs typeface="Calibri"/>
            </a:endParaRPr>
          </a:p>
          <a:p>
            <a:endParaRPr lang="en-US" sz="9600" dirty="0">
              <a:ea typeface="Calibri"/>
              <a:cs typeface="Calibri"/>
            </a:endParaRPr>
          </a:p>
          <a:p>
            <a:r>
              <a:rPr lang="en-US" sz="9600" dirty="0">
                <a:ea typeface="Calibri"/>
                <a:cs typeface="Calibri"/>
              </a:rPr>
              <a:t>Ralph Hodgson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6962D-A6CA-E253-3119-23B6FA31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September 22,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114CD-FDA2-0519-0221-556B9E9E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77A3A-670D-4CB3-8E64-3472AE9CF9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6313" y="1216103"/>
            <a:ext cx="10377487" cy="963613"/>
          </a:xfrm>
          <a:solidFill>
            <a:srgbClr val="003746"/>
          </a:solidFill>
          <a:ln w="19050">
            <a:solidFill>
              <a:srgbClr val="00FF78"/>
            </a:solidFill>
          </a:ln>
        </p:spPr>
        <p:txBody>
          <a:bodyPr/>
          <a:lstStyle/>
          <a:p>
            <a:pPr algn="ctr"/>
            <a:r>
              <a:rPr lang="en-US" sz="6000" dirty="0"/>
              <a:t>QUDT Structured Datatypes </a:t>
            </a:r>
            <a:r>
              <a:rPr lang="en-US" dirty="0">
                <a:solidFill>
                  <a:srgbClr val="00FF78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43B9F-CBFC-5723-6D46-FF1927A663E6}"/>
              </a:ext>
            </a:extLst>
          </p:cNvPr>
          <p:cNvSpPr txBox="1"/>
          <p:nvPr/>
        </p:nvSpPr>
        <p:spPr>
          <a:xfrm>
            <a:off x="11430000" y="6455229"/>
            <a:ext cx="555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v1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752D141-DC98-B4A4-636E-35A8842B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QUDT Structured Datatypes</a:t>
            </a:r>
          </a:p>
        </p:txBody>
      </p:sp>
    </p:spTree>
    <p:extLst>
      <p:ext uri="{BB962C8B-B14F-4D97-AF65-F5344CB8AC3E}">
        <p14:creationId xmlns:p14="http://schemas.microsoft.com/office/powerpoint/2010/main" val="419762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E266-48B9-A8AD-75ED-A87BBDA4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E3C9-10AD-21E6-DC49-08799FAE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50" y="2359386"/>
            <a:ext cx="10249888" cy="116372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Calibri"/>
                <a:cs typeface="Calibri"/>
              </a:rPr>
              <a:t>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2987A-39D5-11AA-9C52-309CDCC05A83}"/>
              </a:ext>
            </a:extLst>
          </p:cNvPr>
          <p:cNvSpPr txBox="1"/>
          <p:nvPr/>
        </p:nvSpPr>
        <p:spPr>
          <a:xfrm>
            <a:off x="3638525" y="4722410"/>
            <a:ext cx="4518053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ea typeface="Calibri"/>
                <a:cs typeface="Calibri"/>
              </a:rPr>
              <a:t>Contact us at:</a:t>
            </a:r>
            <a:endParaRPr lang="en-US" sz="2800"/>
          </a:p>
          <a:p>
            <a:pPr algn="ctr"/>
            <a:r>
              <a:rPr lang="en-US" sz="3200" b="1" u="sng" dirty="0">
                <a:solidFill>
                  <a:srgbClr val="0097A7"/>
                </a:solidFill>
                <a:ea typeface="Calibri"/>
                <a:cs typeface="Calibri"/>
                <a:hlinkClick r:id="rId2"/>
              </a:rPr>
              <a:t>info@qudt</a:t>
            </a:r>
            <a:r>
              <a:rPr lang="en-US" sz="2800">
                <a:solidFill>
                  <a:srgbClr val="000000"/>
                </a:solidFill>
                <a:ea typeface="Calibri"/>
                <a:cs typeface="Calibri"/>
              </a:rPr>
              <a:t>.org</a:t>
            </a:r>
            <a:endParaRPr lang="en-US" sz="2800"/>
          </a:p>
          <a:p>
            <a:pPr algn="l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9009E-538C-81C7-9AE5-5A634340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QUDT Briefing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6F44-8774-FCD5-F3EF-2BA4E0DE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ABE5E8-F451-8065-918D-558BB2FF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7219" y="6356350"/>
            <a:ext cx="2743200" cy="365125"/>
          </a:xfrm>
        </p:spPr>
        <p:txBody>
          <a:bodyPr/>
          <a:lstStyle/>
          <a:p>
            <a:r>
              <a:rPr lang="en-US" dirty="0"/>
              <a:t>February 17, 2026</a:t>
            </a:r>
          </a:p>
        </p:txBody>
      </p:sp>
    </p:spTree>
    <p:extLst>
      <p:ext uri="{BB962C8B-B14F-4D97-AF65-F5344CB8AC3E}">
        <p14:creationId xmlns:p14="http://schemas.microsoft.com/office/powerpoint/2010/main" val="19937894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What This Covers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78992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Structured Datatypes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054096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spec-plus-values pattern, and where it lives in the layered SHACL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758184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054096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NTuple engine: spec, per-member type facets, and the position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37376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054096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The Array / ArrayKind split, the flat value list, and data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1536192"/>
            <a:ext cx="2487168" cy="23957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116568" y="1792224"/>
            <a:ext cx="566928" cy="566928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FF7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3746"/>
                </a:solidFill>
                <a:latin typeface="Calibri"/>
              </a:rPr>
              <a:t>SHACL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3054096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B33"/>
                </a:solidFill>
                <a:latin typeface="Calibri"/>
              </a:rPr>
              <a:t>Eight checks, the results, and three SPARQL portability defects.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Source: src/main/rdf/schema/shacl/design-notes/array-as-ntuple-parallel.md  ·  branch rh-arrays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Goal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29844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25296" y="1755648"/>
            <a:ext cx="9747504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Give </a:t>
            </a:r>
            <a:r>
              <a:rPr sz="1900" b="0">
                <a:solidFill>
                  <a:srgbClr val="00FF78"/>
                </a:solidFill>
                <a:latin typeface="Courier New"/>
              </a:rPr>
              <a:t>qudt:Array</a:t>
            </a:r>
            <a:r>
              <a:rPr sz="1900" b="0">
                <a:solidFill>
                  <a:srgbClr val="FFFFFF"/>
                </a:solidFill>
                <a:latin typeface="Calibri"/>
              </a:rPr>
              <a:t> the same spec-plus-values treatment as </a:t>
            </a:r>
            <a:r>
              <a:rPr sz="1900" b="0">
                <a:solidFill>
                  <a:srgbClr val="00FF78"/>
                </a:solidFill>
                <a:latin typeface="Courier New"/>
              </a:rPr>
              <a:t>qudt:NTuple</a:t>
            </a:r>
            <a:r>
              <a:rPr sz="1900" b="0">
                <a:solidFill>
                  <a:srgbClr val="FFFFFF"/>
                </a:solidFill>
                <a:latin typeface="Calibri"/>
              </a:rPr>
              <a:t> — so the two structured datatypes share a single modelling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136391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52144" y="330098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0944" y="3291839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Stay entirely within the SHACL datatype schema. Do not touch the parallel OWL side (SCHEMA_QUDT-DATATYPE.ttl) as part of this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215383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52144" y="4379975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4370831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Flat representation confirmed. Data order implemented. Array constraints validated — valid examples clean, every invalid example flagged.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294375"/>
            <a:ext cx="10515600" cy="9326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2144" y="5458967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3746"/>
                </a:solidFill>
                <a:latin typeface="Calibri"/>
              </a:rPr>
              <a:t>Along the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5449823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Three portability defects were found and fixed in the shared tuple engine. All three were pre-existing, and affected plain qudt:NTuple as much as arrays.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Pattern — Spec plus Values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4663440" cy="1975104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1773936"/>
            <a:ext cx="40416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FF78"/>
                </a:solidFill>
                <a:latin typeface="Calibri"/>
              </a:rPr>
              <a:t>THE SPEC  /  KIND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A reusable blueprint node. Describes the shape and the types — and nothing about any particular value.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5E3E7"/>
                </a:solidFill>
                <a:latin typeface="Calibri"/>
              </a:rPr>
              <a:t>Shared by every instance that has that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3407" y="1536192"/>
            <a:ext cx="4663440" cy="1975104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04303" y="1773936"/>
            <a:ext cx="40416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03746"/>
                </a:solidFill>
                <a:latin typeface="Calibri"/>
              </a:rPr>
              <a:t>THE INSTANCE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>
                <a:solidFill>
                  <a:srgbClr val="1C2B33"/>
                </a:solidFill>
                <a:latin typeface="Calibri"/>
              </a:rPr>
              <a:t>Carries the data: one flat value list, plus a pointer back to the blueprint that describes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Nothing else. No shape, no types.</a:t>
            </a:r>
          </a:p>
        </p:txBody>
      </p:sp>
      <p:sp>
        <p:nvSpPr>
          <p:cNvPr id="10" name="Left Arrow 9"/>
          <p:cNvSpPr/>
          <p:nvPr/>
        </p:nvSpPr>
        <p:spPr>
          <a:xfrm>
            <a:off x="5760720" y="2286000"/>
            <a:ext cx="676656" cy="475488"/>
          </a:xfrm>
          <a:prstGeom prst="lef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3840480"/>
          <a:ext cx="105156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91840"/>
                <a:gridCol w="4023360"/>
              </a:tblGrid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Structured datatype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Blueprint node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FF78"/>
                          </a:solidFill>
                          <a:latin typeface="Calibri"/>
                        </a:rPr>
                        <a:t>Reached by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qudt:NTuple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qudt:NTupleSpec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qudt:conformsToTupleSpec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qudt:Array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qudt:ArrayKind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C2B33"/>
                          </a:solidFill>
                          <a:latin typeface="Courier New"/>
                        </a:rPr>
                        <a:t>qudt:datatypeKind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The link is the general qudt:datatypeKind, not an array-specific property — leaving room for other structured datatypes to acquire a kind without a new property each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Where It Lives — the Layered Schema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70432" y="153619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536192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qudt:Datatype, the language-binding shapes (cName, javaName, ansiSQLName, …), qudt:dimensionality, shared xsd:/dcterms: declarations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2491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0432" y="272491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datatype/scalar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724912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Everything under qudt:ScalarDatatype — plus encodings, enumerations and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2724912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imports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913632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38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913632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FF78"/>
                </a:solidFill>
                <a:latin typeface="Courier New"/>
              </a:rPr>
              <a:t>datatype/structured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913632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Everything under qudt:StructuredDatatype — arrays, tuples, matrices,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3913632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imports 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175504"/>
            <a:ext cx="10515600" cy="7863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70432" y="5175504"/>
            <a:ext cx="9857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Preserve the layering. </a:t>
            </a:r>
            <a:r>
              <a:rPr sz="1400" b="0">
                <a:solidFill>
                  <a:srgbClr val="1C2B33"/>
                </a:solidFill>
                <a:latin typeface="Calibri"/>
              </a:rPr>
              <a:t>No core → anything edge, and no scalar → structured edge. When placing a new term, follow its outbound references.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Split out of the former SCHEMA_QUDT-DATATYPES_NoOWL.ttl on 2026-08-24. The owl:imports chain is strictly core ← scalar ← structured.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Tuples — the Engine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0665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the instance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carries qudt:values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82696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57016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721608" y="1737360"/>
            <a:ext cx="20665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the blueprint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one per tuple shape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4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7376" y="1737360"/>
            <a:ext cx="20665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qudt:tupleMemberSpecs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an ordered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RDF list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14232" y="2139696"/>
            <a:ext cx="228600" cy="256032"/>
          </a:xfrm>
          <a:prstGeom prst="rightArrow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88552" y="1536192"/>
            <a:ext cx="2395728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53144" y="1737360"/>
            <a:ext cx="20665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qudt:NTupleMemberTypeSpec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one per position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qudt:index + type facet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364991"/>
            <a:ext cx="10515600" cy="87782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52144" y="3547872"/>
            <a:ext cx="9893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qudt:index is the homogeneous / heterogeneous switch. </a:t>
            </a:r>
            <a:r>
              <a:rPr sz="1400" b="0">
                <a:solidFill>
                  <a:srgbClr val="1C2B33"/>
                </a:solidFill>
                <a:latin typeface="Calibri"/>
              </a:rPr>
              <a:t>Present ⇒ per-position types (tuple-like). Absent ⇒ one shared facet for every cell.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5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3746"/>
                </a:solidFill>
                <a:latin typeface="Calibri"/>
              </a:rPr>
              <a:t>The type facet — four alternatives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901183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038344"/>
            <a:ext cx="47548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sh:datatype   </a:t>
            </a:r>
            <a:r>
              <a:rPr sz="1250" b="0">
                <a:solidFill>
                  <a:srgbClr val="1C2B33"/>
                </a:solidFill>
                <a:latin typeface="Calibri"/>
              </a:rPr>
              <a:t>a literal datatype, e.g. xsd:decimal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4901183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19088" y="5038344"/>
            <a:ext cx="47548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sh:class   </a:t>
            </a:r>
            <a:r>
              <a:rPr sz="1250" b="0">
                <a:solidFill>
                  <a:srgbClr val="1C2B33"/>
                </a:solidFill>
                <a:latin typeface="Calibri"/>
              </a:rPr>
              <a:t>a class the cell must be an instance of, e.g. qudt:Unit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522975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4128" y="5660136"/>
            <a:ext cx="47548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sh:in   </a:t>
            </a:r>
            <a:r>
              <a:rPr sz="1250" b="0">
                <a:solidFill>
                  <a:srgbClr val="1C2B33"/>
                </a:solidFill>
                <a:latin typeface="Calibri"/>
              </a:rPr>
              <a:t>an explicit enumeration of permitted values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5522975"/>
            <a:ext cx="5120640" cy="530352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19088" y="5660136"/>
            <a:ext cx="47548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qudt:NumericTypeUnion   </a:t>
            </a:r>
            <a:r>
              <a:rPr sz="1250" b="0">
                <a:solidFill>
                  <a:srgbClr val="1C2B33"/>
                </a:solidFill>
                <a:latin typeface="Calibri"/>
              </a:rPr>
              <a:t>the shared numeric-type union 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What Is an N-Tuple?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969264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25296" y="1664207"/>
            <a:ext cx="974750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“An N-Tuple is an Ordered List of objects, each of a specified type. The n can be any non-negative integer.”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D5E3E7"/>
                </a:solidFill>
                <a:latin typeface="Calibri"/>
              </a:rPr>
              <a:t>qudt:NTuple — dcterms:description, SCHEMA_QUDT-DATATYPES-STRUCTURED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0704" y="2871215"/>
            <a:ext cx="2895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Fixed 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456432"/>
            <a:ext cx="289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spec fixes how many positions there are. A tuple with too few or too many values is invalid — not merely unusual.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1792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51248" y="2871215"/>
            <a:ext cx="2895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Position carries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1248" y="3456432"/>
            <a:ext cx="289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Position 3 of a measurement tuple is its unit. Order is part of the contract, not a convention.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2724912"/>
            <a:ext cx="3334512" cy="138988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41792" y="2871215"/>
            <a:ext cx="2895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Each position typed independently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792" y="3456432"/>
            <a:ext cx="289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One position may be an IRI, the next a decimal, the next a class instance — unlike a homogeneous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334256"/>
            <a:ext cx="5120640" cy="804672"/>
          </a:xfrm>
          <a:prstGeom prst="roundRect">
            <a:avLst>
              <a:gd name="adj" fmla="val 5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60704" y="4334256"/>
            <a:ext cx="4681727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qudt:conformsToTupleSpec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blueprint — exactly one  (sh:minCount 1 · sh:maxCount 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334256"/>
            <a:ext cx="5120640" cy="804672"/>
          </a:xfrm>
          <a:prstGeom prst="roundRect">
            <a:avLst>
              <a:gd name="adj" fmla="val 5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55664" y="4334256"/>
            <a:ext cx="4681727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qudt:values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alibri"/>
              </a:rPr>
              <a:t>the flat, ordered RDF list of the tuple's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248655"/>
            <a:ext cx="10515600" cy="74980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15568" y="5248655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alibri"/>
              </a:rPr>
              <a:t>Subclasses in the schema:   </a:t>
            </a:r>
            <a:r>
              <a:rPr sz="1150" b="0">
                <a:solidFill>
                  <a:srgbClr val="1C2B33"/>
                </a:solidFill>
                <a:latin typeface="Courier New"/>
              </a:rPr>
              <a:t>qudt:DataSetElement · qudt:SplinePoint · qudt:ThreeTuple (→ qudt:Triplet)</a:t>
            </a:r>
            <a:r>
              <a:rPr sz="1200" b="0">
                <a:solidFill>
                  <a:srgbClr val="1C2B33"/>
                </a:solidFill>
                <a:latin typeface="Calibri"/>
              </a:rPr>
              <a:t>   — each inherits the five tuple checks unchanged.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qudt:NTuple is rdfs:subClassOf qudt:StructuredDatatype and sits beside qudt:Array, not under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N-Tuple Examples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3"/>
                </a:solidFill>
                <a:latin typeface="Calibri"/>
              </a:rPr>
              <a:t>Three specs from EXAMPLES_QUDT-DATATYPES.ttl, each with a value that conforms to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901952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931920"/>
                <a:gridCol w="3931920"/>
              </a:tblGrid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Tuple spec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Positions, in order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00FF78"/>
                          </a:solidFill>
                          <a:latin typeface="Calibri"/>
                        </a:rPr>
                        <a:t>A conforming value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ex:DateCountTupleSpec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xsd:date · xsd:integer ≥ 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"2026-05-12"^^xsd:date  42 )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ex:StatusFlagTupleSpec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xsd:string (min 1 char) · xsd:boolean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"Approved"  true )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ex:QuantityValueUnitTupleSpec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qudt:QuantityKind · xsd:decimal · qudt:Unit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C2B33"/>
                          </a:solidFill>
                          <a:latin typeface="Courier New"/>
                        </a:rPr>
                        <a:t>( quantitykind:Temperature  23.7  unit:DEG_C 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" y="3767328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52144" y="3950208"/>
            <a:ext cx="9893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FF78"/>
                </a:solidFill>
                <a:latin typeface="Calibri"/>
              </a:rPr>
              <a:t>The facet is full SHACL — not just sh:datatype and sh:class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334256"/>
            <a:ext cx="9893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5E3E7"/>
                </a:solidFill>
                <a:latin typeface="Calibri"/>
              </a:rPr>
              <a:t>ex:ResourceLabelRatingTupleSpec — five positions, four different kinds of facet: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52144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25296" y="4700016"/>
            <a:ext cx="17300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1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sh:nodeKind sh:IRI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6508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229660" y="4700016"/>
            <a:ext cx="17300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2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sh:languageIn "en"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34025" y="4700016"/>
            <a:ext cx="17300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3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xsd:integer, 1–5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5238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238390" y="4700016"/>
            <a:ext cx="17300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4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sh:class qudt:Unit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9603" y="4700016"/>
            <a:ext cx="1876348" cy="402336"/>
          </a:xfrm>
          <a:prstGeom prst="roundRect">
            <a:avLst>
              <a:gd name="adj" fmla="val 8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42755" y="4700016"/>
            <a:ext cx="17300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FF78"/>
                </a:solidFill>
                <a:latin typeface="Calibri"/>
              </a:rPr>
              <a:t>5  </a:t>
            </a:r>
            <a:r>
              <a:rPr sz="1000" b="0">
                <a:solidFill>
                  <a:srgbClr val="FFFFFF"/>
                </a:solidFill>
                <a:latin typeface="Courier New"/>
              </a:rPr>
              <a:t>xsd:date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193792"/>
            <a:ext cx="98938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5E3E7"/>
                </a:solidFill>
                <a:latin typeface="Courier New"/>
              </a:rPr>
              <a:t>( quantitykind:Temperature  "Ambient temperature"@en  5  unit:DEG_C  "2026-05-12"^^xsd:date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sh:minInclusive / sh:maxInclusive on position 3 are enforced by NTupleRangeCheck; the rest by NTupleTypeCheck.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Extending N-Tuple — IFC Compound Plane Angle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74980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1536192"/>
            <a:ext cx="98938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FF78"/>
                </a:solidFill>
                <a:latin typeface="Courier New"/>
              </a:rPr>
              <a:t>ex:IfcCompoundPlaneAngleMeasure is rdfs:subClassOf qudt:NTuple. </a:t>
            </a:r>
            <a:r>
              <a:rPr sz="1300" b="0">
                <a:solidFill>
                  <a:srgbClr val="FFFFFF"/>
                </a:solidFill>
                <a:latin typeface="Calibri"/>
              </a:rPr>
              <a:t>It inherits all five tuple checks unchanged, and adds exactly one sh:sparql of its own — the cross-position ConsistentSign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50591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degrees, minutes, seconds, [millionth-seconds]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43200"/>
            <a:ext cx="5440680" cy="2995168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2416" y="2889504"/>
            <a:ext cx="5038344" cy="270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ex:IfcCompoundPlaneAngleMeasureSpec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a qudt:NTupleSpec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qudt:tupleMemberSpecs (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1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2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-60 ; sh:maxExclusive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3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-60 ; sh:maxExclusive 60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qudt:index 4 ; sh:datatype xsd:integer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sh:minCount 0 ;          # optional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sh:minExclusive -1000000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  sh:maxExclusive 1000000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C2B33"/>
                </a:solidFill>
                <a:latin typeface="Courier New"/>
              </a:rPr>
              <a:t>  ] )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450591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A conforming value — Berlin's latitude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2743200"/>
            <a:ext cx="4800600" cy="1094930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57416" y="2889504"/>
            <a:ext cx="4398264" cy="8023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ex:cpaBerlinLatitude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a ex:IfcCompoundPlaneAngleMeasure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qudt:conformsToTupleSpec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    ex:IfcCompoundPlaneAngleMeasureSpec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C2B33"/>
                </a:solidFill>
                <a:latin typeface="Courier New"/>
              </a:rPr>
              <a:t>  qudt:values ( 52 31 12 )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966146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3"/>
                </a:solidFill>
                <a:latin typeface="Calibri"/>
              </a:rPr>
              <a:t>…and five of its six invalid variants, each isolating one fault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56248" y="4240466"/>
          <a:ext cx="4800599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926080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FF78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FF78"/>
                          </a:solidFill>
                          <a:latin typeface="Calibri"/>
                        </a:rPr>
                        <a:t>Violates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29260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a required position is missing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"12" )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seconds is a string — member type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29260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60 0 )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minutes = 60 — outside −60…60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31 12 1000000 )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millionth-seconds out of range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29260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ourier New"/>
                        </a:rPr>
                        <a:t>( 52 -31 12 )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B33"/>
                          </a:solidFill>
                          <a:latin typeface="Calibri"/>
                        </a:rPr>
                        <a:t>mixed signs — the subclass rule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The first four faults are caught by the inherited NTupleLengthCheck / TypeCheck / RangeCheck; only the last needs the subclass's own ConsistentSign rule.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Tuple Example — a 2×3 Heterogeneous Array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The spec — one member type per position, 1-based over the flat value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7688" y="1536192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3"/>
                </a:solidFill>
                <a:latin typeface="Calibri"/>
              </a:rPr>
              <a:t>The instance — values only, plus a pointer to its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01952"/>
            <a:ext cx="5532120" cy="2724912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42416" y="2048256"/>
            <a:ext cx="51297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ex:TempPressureArraySpec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a qudt:NTupleSpec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qudt:tupleMemberSpecs (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1 ; sh:datatype xsd:string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2 ; sh:datatype xsd:decimal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a qudt:NTupleMemberTypeSpec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  qudt:index 3 ; sh:class qudt:Unit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B33"/>
                </a:solidFill>
                <a:latin typeface="Courier New"/>
              </a:rPr>
              <a:t>  ] … )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7688" y="1901952"/>
            <a:ext cx="4709160" cy="1652333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48855" y="2048256"/>
            <a:ext cx="4306824" cy="1359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ex:2by3HeterogeneousArray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a qudt:HeterogenousArray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qudt:datatypeKind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ex:2by3HeterogeneousArrayKind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qudt:values (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"Temp"     23.7  unit:DEG_C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"Pressure" 101.3 unit:PA )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3755453"/>
            <a:ext cx="4709160" cy="2235073"/>
          </a:xfrm>
          <a:prstGeom prst="roundRect">
            <a:avLst>
              <a:gd name="adj" fmla="val 3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48855" y="3901757"/>
            <a:ext cx="4306824" cy="19424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ex:2by3HeterogeneousArrayKind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a qudt:HeterogenousArrayKind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qudt:conformsToTupleSpec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ex:TempPressureArraySpec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qudt:dataOrder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    qudt:InnermostIndexFastest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qudt:dimensionality 2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qudt:dimensions ( 2 3 )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qudt:elementCount 6 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C2B33"/>
                </a:solidFill>
                <a:latin typeface="Courier New"/>
              </a:rPr>
              <a:t>  qudt:isHeterogeneous true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864608"/>
            <a:ext cx="5532120" cy="950976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97280" y="5010912"/>
            <a:ext cx="5020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 heterogeneous array is an N-Tuple laid out in a grid — so it reuses the tuple engine verbatim, with zero new machinery.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From EXAMPLES_QUDT-DATATYPES.ttl. A heterogeneous array must be typed qudt:HeterogenousArray, not bare qudt:Array, for its per-position types to be checked.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Arrays — the Array / ArrayKind Split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5074920" cy="2852928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33856" y="1755648"/>
            <a:ext cx="4489704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03746"/>
                </a:solidFill>
                <a:latin typeface="Courier New"/>
              </a:rPr>
              <a:t>qudt:Array — THE INSTANCE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▪  </a:t>
            </a:r>
            <a:r>
              <a:rPr sz="1400" b="1">
                <a:solidFill>
                  <a:srgbClr val="1C2B33"/>
                </a:solidFill>
                <a:latin typeface="Courier New"/>
              </a:rPr>
              <a:t>qudt:values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the flat value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▪  </a:t>
            </a:r>
            <a:r>
              <a:rPr sz="1400" b="1">
                <a:solidFill>
                  <a:srgbClr val="1C2B33"/>
                </a:solidFill>
                <a:latin typeface="Courier New"/>
              </a:rPr>
              <a:t>qudt:datatypeKind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mandatory pointer to the kind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3"/>
                </a:solidFill>
                <a:latin typeface="Calibri"/>
              </a:rPr>
              <a:t>sh:minCount 1 · sh:maxCount 1 · sh:class qudt:ArrayKind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And nothing else.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536192"/>
            <a:ext cx="5074920" cy="28529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74536" y="1755648"/>
            <a:ext cx="4489704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00FF78"/>
                </a:solidFill>
                <a:latin typeface="Courier New"/>
              </a:rPr>
              <a:t>qudt:ArrayKind — THE BLUEPRINT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qudt:dimensionality   </a:t>
            </a:r>
            <a:r>
              <a:rPr sz="1150" b="0">
                <a:solidFill>
                  <a:srgbClr val="D5E3E7"/>
                </a:solidFill>
                <a:latin typeface="Calibri"/>
              </a:rPr>
              <a:t>rank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qudt:dimensions   </a:t>
            </a:r>
            <a:r>
              <a:rPr sz="1150" b="0">
                <a:solidFill>
                  <a:srgbClr val="D5E3E7"/>
                </a:solidFill>
                <a:latin typeface="Calibri"/>
              </a:rPr>
              <a:t>extents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qudt:elementCount   </a:t>
            </a:r>
            <a:r>
              <a:rPr sz="1150" b="0">
                <a:solidFill>
                  <a:srgbClr val="D5E3E7"/>
                </a:solidFill>
                <a:latin typeface="Calibri"/>
              </a:rPr>
              <a:t>total cells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qudt:dataOrder   </a:t>
            </a:r>
            <a:r>
              <a:rPr sz="1150" b="0">
                <a:solidFill>
                  <a:srgbClr val="D5E3E7"/>
                </a:solidFill>
                <a:latin typeface="Calibri"/>
              </a:rPr>
              <a:t>linearisation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qudt:isHeterogeneous   </a:t>
            </a:r>
            <a:r>
              <a:rPr sz="1150" b="0">
                <a:solidFill>
                  <a:srgbClr val="D5E3E7"/>
                </a:solidFill>
                <a:latin typeface="Calibri"/>
              </a:rPr>
              <a:t>hom./het. flag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qudt:elementType   </a:t>
            </a:r>
            <a:r>
              <a:rPr sz="1150" b="0">
                <a:solidFill>
                  <a:srgbClr val="D5E3E7"/>
                </a:solidFill>
                <a:latin typeface="Calibri"/>
              </a:rPr>
              <a:t>one shared type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urier New"/>
              </a:rPr>
              <a:t>qudt:conformsToTupleSpec   </a:t>
            </a:r>
            <a:r>
              <a:rPr sz="1150" b="0">
                <a:solidFill>
                  <a:srgbClr val="D5E3E7"/>
                </a:solidFill>
                <a:latin typeface="Calibri"/>
              </a:rPr>
              <a:t>one type per 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645152"/>
            <a:ext cx="10515600" cy="841248"/>
          </a:xfrm>
          <a:prstGeom prst="roundRect">
            <a:avLst>
              <a:gd name="adj" fmla="val 4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33856" y="4809744"/>
            <a:ext cx="99303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03746"/>
                </a:solidFill>
                <a:latin typeface="Calibri"/>
              </a:rPr>
              <a:t>Where a violation is reported follows the data. </a:t>
            </a:r>
            <a:r>
              <a:rPr sz="1350" b="0">
                <a:solidFill>
                  <a:srgbClr val="1C2B33"/>
                </a:solidFill>
                <a:latin typeface="Calibri"/>
              </a:rPr>
              <a:t>Rank faults on the ArrayKind — it holds dimensionality and dimensions. Length and element-type faults on the Array — it holds qudt:values.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Decided 2026-08-22. This reverses the 2026-07-27 “self-describing array”, in which the array carried its own shape.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Why the Reversal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102412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1719072"/>
            <a:ext cx="98938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A6B73"/>
                </a:solidFill>
                <a:latin typeface="Calibri"/>
              </a:rPr>
              <a:t>The 2026-07-27 argument:  </a:t>
            </a:r>
            <a:r>
              <a:rPr sz="1450" b="0">
                <a:solidFill>
                  <a:srgbClr val="5A6B73"/>
                </a:solidFill>
                <a:latin typeface="Calibri"/>
              </a:rPr>
              <a:t>a blueprint pays off only when many instances share it — and an array's dimensions vary per instance, so few would.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98063"/>
            <a:ext cx="10515600" cy="566928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52144" y="2935223"/>
            <a:ext cx="9893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FF78"/>
                </a:solidFill>
                <a:latin typeface="Calibri"/>
              </a:rPr>
              <a:t>In practice, they do share.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584447"/>
            <a:ext cx="10515600" cy="60350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2144" y="3749039"/>
            <a:ext cx="9893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C2B33"/>
                </a:solidFill>
                <a:latin typeface="Courier New"/>
              </a:rPr>
              <a:t>ex:3DHomogeneousArray1  +  …Array2   </a:t>
            </a:r>
            <a:r>
              <a:rPr sz="1350" b="0">
                <a:solidFill>
                  <a:srgbClr val="003746"/>
                </a:solidFill>
                <a:latin typeface="Courier New"/>
              </a:rPr>
              <a:t>share one  ex:3DHomogeneousArrayKind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315968"/>
            <a:ext cx="10515600" cy="60350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52144" y="4480559"/>
            <a:ext cx="98938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C2B33"/>
                </a:solidFill>
                <a:latin typeface="Courier New"/>
              </a:rPr>
              <a:t>two temperature arrays   </a:t>
            </a:r>
            <a:r>
              <a:rPr sz="1350" b="0">
                <a:solidFill>
                  <a:srgbClr val="003746"/>
                </a:solidFill>
                <a:latin typeface="Courier New"/>
              </a:rPr>
              <a:t>share  ex:3DTemperatureArrayKind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5193792"/>
            <a:ext cx="10515600" cy="1078992"/>
          </a:xfrm>
          <a:prstGeom prst="roundRect">
            <a:avLst>
              <a:gd name="adj" fmla="val 4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2144" y="5376672"/>
            <a:ext cx="98938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D5E3E7"/>
                </a:solidFill>
                <a:latin typeface="Calibri"/>
              </a:rPr>
              <a:t>And it removes the previous revision's accepted trade-off: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heterogeneous arrays can now share a reusable positional-type blueprint, because the qudt:conformsToTupleSpec pointer lives on the kind.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Every Array-Shaped Datatype Is a Pair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536192"/>
          <a:ext cx="10515600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200400"/>
                <a:gridCol w="4251960"/>
              </a:tblGrid>
              <a:tr h="42062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Instance shape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Kind shape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Instance-side constraints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qudt:Array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qudt:ArrayKind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B33"/>
                          </a:solidFill>
                          <a:latin typeface="Courier New"/>
                        </a:rPr>
                        <a:t>ValuesListLengthCheck · ValuesListElementTypeCheck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qudt:HomogeneousArray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qudt:HomogeneousArrayKind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inherited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qudt:HeterogenousArray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qudt:HeterogenousArrayKind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inherited, plus the four NTuple* checks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qudt:Vector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ourier New"/>
                        </a:rPr>
                        <a:t>qudt:VectorKind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C2B33"/>
                          </a:solidFill>
                          <a:latin typeface="Courier New"/>
                        </a:rPr>
                        <a:t>ValuesListLengthCheck · ValuesListElementTypeCheck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" y="4023360"/>
            <a:ext cx="10515600" cy="932688"/>
          </a:xfrm>
          <a:prstGeom prst="roundRect">
            <a:avLst>
              <a:gd name="adj" fmla="val 4000"/>
            </a:avLst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52144" y="4169664"/>
            <a:ext cx="98938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 constraint that reads qudt:values must hang off the instance class.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On a kind it matches nothing and reports success — a whole dimension of checking disappears with no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20640"/>
            <a:ext cx="10515600" cy="859536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52144" y="5266944"/>
            <a:ext cx="98938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qudt:Vector is a sibling of qudt:Array, not a subclass. </a:t>
            </a:r>
            <a:r>
              <a:rPr sz="1300" b="0">
                <a:solidFill>
                  <a:srgbClr val="1C2B33"/>
                </a:solidFill>
                <a:latin typeface="Calibri"/>
              </a:rPr>
              <a:t>It is rdfs:subClassOf qudt:StructuredDatatype with its own qudt:ValuesList; the “a vector is a rank-1 array” relationship is expressed on the kind side, where qudt:VectorKind is rdfs:subClassOf qudt:ArrayKind.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ArrayRankCheck is the one kind-side constraint — rank is a blueprint property. The shared value-list shapes are named ValuesList*, not Array*, because qudt:Vector uses them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Flat vs Nested — the Verdict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536192"/>
          <a:ext cx="105156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383280"/>
              </a:tblGrid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Flat  (Option B)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Nested  (Option A)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Reuses NTuple* constraints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Yes, verbatim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No — needs per-depth variants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Type check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one rdf:rest*/rdf:first walk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walk N levels, derive index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Length / shape check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∏(dims) = COUNT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one shape per rank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Scales to arbitrary N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Heterogeneous ≡ NTuple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A6B3C"/>
                          </a:solidFill>
                          <a:latin typeface="Calibri"/>
                        </a:rPr>
                        <a:t>Falls out for free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9B2C2C"/>
                          </a:solidFill>
                          <a:latin typeface="Calibri"/>
                        </a:rPr>
                        <a:t>Breaks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needs ∏(dims) — SPARQL has no PRODUCT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" y="4645152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52144" y="4828032"/>
            <a:ext cx="989380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FF78"/>
                </a:solidFill>
                <a:latin typeface="Calibri"/>
              </a:rPr>
              <a:t>Flat wins on both worked cases, decisively.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SHACL property paths don't parameterise on depth, so nested validation needs a different query for every rank. The single cost of flat — computing ∏(dimensions) — is answered by materialising qudt:elementCount.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 Order — How the Flat List Linearises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B33"/>
                </a:solidFill>
                <a:latin typeface="Calibri"/>
              </a:rPr>
              <a:t>The flat representation needs one more datum: how the single qudt:values list maps back to logical N-D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48256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52144" y="221284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FF78"/>
                </a:solidFill>
                <a:latin typeface="Courier New"/>
              </a:rPr>
              <a:t>qudt:InnermostIndexFastest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DEFAULT when qudt:dataOrder is absent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2212848"/>
            <a:ext cx="55321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The innermost (last) index varies fastest; values sharing the same outer indices occur contiguously before the outer index advances.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arr[2][3]   </a:t>
            </a:r>
            <a:r>
              <a:rPr sz="1250" b="1">
                <a:solidFill>
                  <a:srgbClr val="FFFFFF"/>
                </a:solidFill>
                <a:latin typeface="Courier New"/>
              </a:rPr>
              <a:t>(0,0) (0,1) (0,2)    (1,0) (1,1) (1,2)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419856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52144" y="358444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003746"/>
                </a:solidFill>
                <a:latin typeface="Courier New"/>
              </a:rPr>
              <a:t>qudt:OutermostIndexFastest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3584448"/>
            <a:ext cx="55321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The outermost (first) index varies fastest; values sharing the same inner indices occur contiguously before the inner index advances.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3"/>
                </a:solidFill>
                <a:latin typeface="Calibri"/>
              </a:rPr>
              <a:t>arr[2][3]   </a:t>
            </a:r>
            <a:r>
              <a:rPr sz="1250" b="1">
                <a:solidFill>
                  <a:srgbClr val="1C2B33"/>
                </a:solidFill>
                <a:latin typeface="Courier New"/>
              </a:rPr>
              <a:t>(0,0) (1,0)    (0,1) (1,1)    (0,2) (1,2)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91456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D5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52144" y="4956048"/>
            <a:ext cx="98938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Retired: </a:t>
            </a:r>
            <a:r>
              <a:rPr sz="1300" b="0">
                <a:solidFill>
                  <a:srgbClr val="1C2B33"/>
                </a:solidFill>
                <a:latin typeface="Calibri"/>
              </a:rPr>
              <a:t>datatype:ByRow, datatype:ByColumn, datatype:ByLeftMostIndex — “row”, “column” and “leftmost index” are 2-D-only or ambiguous. The two replacements read the same at any rank, and moved to the qudt: namespace.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SHACL Validation — Eight Checks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2212848" cy="65836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184708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On the kind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3552" y="1609344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qudt:ArrayRankCheck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length of the dimensions list equals qudt:dimensionality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359152"/>
            <a:ext cx="2212848" cy="1005840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184708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On the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432304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qudt:ValuesListLengthCheck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cell count equals qudt:elementCount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779776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qudt:ValuesListElementTypeCheck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every cell matches the single shared element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529584"/>
            <a:ext cx="2212848" cy="2048255"/>
          </a:xfrm>
          <a:prstGeom prst="roundRect">
            <a:avLst>
              <a:gd name="adj" fmla="val 5000"/>
            </a:avLst>
          </a:prstGeom>
          <a:solidFill>
            <a:srgbClr val="38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29584"/>
            <a:ext cx="1847088" cy="2048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FF78"/>
                </a:solidFill>
                <a:latin typeface="Calibri"/>
              </a:rPr>
              <a:t>The tuple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602736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qudt:NTupleTypeCheck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each position matches its member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950208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qudt:NTupleRangeCheck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each value within its declared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4297680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qudt:NTupleLengthCheck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value count matches the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4645152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qudt:NTupleMissingRequiredValueCheck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no required position 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992624"/>
            <a:ext cx="8083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3746"/>
                </a:solidFill>
                <a:latin typeface="Courier New"/>
              </a:rPr>
              <a:t>qudt:NTupleExtraValueCheck   </a:t>
            </a:r>
            <a:r>
              <a:rPr sz="1200" b="0">
                <a:solidFill>
                  <a:srgbClr val="1C2B33"/>
                </a:solidFill>
                <a:latin typeface="Calibri"/>
              </a:rPr>
              <a:t>no value beyond the last spec 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76072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52144" y="5760720"/>
            <a:ext cx="98938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3746"/>
                </a:solidFill>
                <a:latin typeface="Calibri"/>
              </a:rPr>
              <a:t>qudt:HeterogenousArray reuses four of the five tuple checks. </a:t>
            </a:r>
            <a:r>
              <a:rPr sz="1300" b="0">
                <a:solidFill>
                  <a:srgbClr val="1C2B33"/>
                </a:solidFill>
                <a:latin typeface="Calibri"/>
              </a:rPr>
              <a:t>They read $this qudt:values, so they hang off the instance class — never the kind.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Validation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5257800" cy="1481328"/>
          </a:xfrm>
          <a:prstGeom prst="roundRect">
            <a:avLst>
              <a:gd name="adj" fmla="val 5000"/>
            </a:avLst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173736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0FF78"/>
                </a:solidFill>
                <a:latin typeface="Calibri"/>
              </a:rPr>
              <a:t>8 / 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checks clean on the valid examples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All three array constraints plus the five tuple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536192"/>
            <a:ext cx="5257800" cy="1481328"/>
          </a:xfrm>
          <a:prstGeom prst="roundRect">
            <a:avLst>
              <a:gd name="adj" fmla="val 5000"/>
            </a:avLst>
          </a:prstGeom>
          <a:solidFill>
            <a:srgbClr val="1C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84264" y="1737360"/>
            <a:ext cx="4636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0FF78"/>
                </a:solidFill>
                <a:latin typeface="Calibri"/>
              </a:rPr>
              <a:t>100%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of invalid examples flagged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5E3E7"/>
                </a:solidFill>
                <a:latin typeface="Calibri"/>
              </a:rPr>
              <a:t>Each on its own check, and on no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7355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3746"/>
                </a:solidFill>
                <a:latin typeface="Calibri"/>
              </a:rPr>
              <a:t>Every invalid example, and the single check that caught 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41248" y="365760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3566160"/>
                <a:gridCol w="2468880"/>
              </a:tblGrid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Invalid example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Caught by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00FF78"/>
                          </a:solidFill>
                          <a:latin typeface="Calibri"/>
                        </a:rPr>
                        <a:t>Reported on</a:t>
                      </a:r>
                    </a:p>
                  </a:txBody>
                  <a:tcPr marL="91440" marR="73152" marT="27432" marB="27432" anchor="ctr">
                    <a:solidFill>
                      <a:srgbClr val="003746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ex:badExampleArrayRank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ArrayKind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ex:badExampleHomogeneousArrayLength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ex:badExampleHomogeneousArrayType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element type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ex:badExampleHeterogeneousArrayType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position 3, via the tuple engine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Array</a:t>
                      </a:r>
                    </a:p>
                  </a:txBody>
                  <a:tcPr marL="91440" marR="73152" marT="27432" marB="27432" anchor="ctr">
                    <a:solidFill>
                      <a:srgbClr val="ECF2F4"/>
                    </a:solidFill>
                  </a:tcPr>
                </a:tc>
              </a:tr>
              <a:tr h="3840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B33"/>
                          </a:solidFill>
                          <a:latin typeface="Courier New"/>
                        </a:rPr>
                        <a:t>the IFC cpaBad* tuples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type / range / length / missing value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C2B33"/>
                          </a:solidFill>
                          <a:latin typeface="Calibri"/>
                        </a:rPr>
                        <a:t>the tuple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Validated with the unit and quantity-kind vocabularies loaded, which the sh:class qudt:Unit checks need. Confirmation in the project's own engine (TopBraid / Jena ARQ) is still outstanding.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Three SPARQL Portability Defects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3"/>
                </a:solidFill>
                <a:latin typeface="Calibri"/>
              </a:rPr>
              <a:t>All three were pre-existing, and affected plain qudt:NTuple as much as arrays.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3852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78992" y="224942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2224" y="2084832"/>
            <a:ext cx="925372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UNION branches inside FILTER NOT EXISTS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Outer bindings stop being substituted, so every position is flagged. A single branch works; the UNION is what breaks it.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One  OPTIONAL { … BIND(true AS ?xMatch) }  per alternative, plus a  !BOUND(…)  filter.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1868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78992" y="352958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4" y="3364992"/>
            <a:ext cx="925372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An aggregate alias joined across a sub-SELECT boundary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Engines are not required to join on it. A 6-position tuple produced a 6×6 cross product — silently.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Project the aggregate as ?position and correlate explicitly:  FILTER ( ?position = ?index 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498848"/>
            <a:ext cx="10515600" cy="1133856"/>
          </a:xfrm>
          <a:prstGeom prst="roundRect">
            <a:avLst>
              <a:gd name="adj" fmla="val 5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078992" y="4809744"/>
            <a:ext cx="512064" cy="512064"/>
          </a:xfrm>
          <a:prstGeom prst="ellipse">
            <a:avLst/>
          </a:prstGeom>
          <a:solidFill>
            <a:srgbClr val="00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FF7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4645152"/>
            <a:ext cx="925372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03746"/>
                </a:solidFill>
                <a:latin typeface="Courier New"/>
              </a:rPr>
              <a:t>FILTER EXISTS where NOT EXISTS was meant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C2B33"/>
                </a:solidFill>
                <a:latin typeface="Calibri"/>
              </a:rPr>
              <a:t>The check fired when a required value was present, reporting every position of a valid tuple as missing.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6A00"/>
                </a:solidFill>
                <a:latin typeface="Calibri"/>
              </a:rPr>
              <a:t>Fix:  </a:t>
            </a:r>
            <a:r>
              <a:rPr sz="1200" b="0">
                <a:solidFill>
                  <a:srgbClr val="5A6B73"/>
                </a:solidFill>
                <a:latin typeface="Calibri"/>
              </a:rPr>
              <a:t>Rewritten without correlation: a required position is missing exactly when  ?index &gt; ?valueCount.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5797296"/>
            <a:ext cx="10515600" cy="512064"/>
          </a:xfrm>
          <a:prstGeom prst="roundRect">
            <a:avLst>
              <a:gd name="adj" fmla="val 4000"/>
            </a:avLst>
          </a:prstGeom>
          <a:solidFill>
            <a:srgbClr val="C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52144" y="5797296"/>
            <a:ext cx="9893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All three fail silently and totally — so they read as data problems, not query bugs.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Still Open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D8EC7-449B-D82D-07F1-BDA16DE2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4566-E730-314F-8C05-3849AEE21A5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153619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No kind counterpart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53619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qudt:Matrix, qudt:MultiDimensionalArray and qudt:AssociativeArray remain instance-side subclasses of qudt:Array. A qudt:MatrixKind is the obvious parallel, but nothing currently requires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6771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5568" y="226771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Type vs 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26771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qudt:TableType and qudt:TimeSeriesArrayType were renamed with a Type suffix while the array blueprints use Kind. TimeSeriesArrayType is rdfs:subClassOf qudt:ArrayKind — a kind in all but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9923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15568" y="299923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Legacy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99923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old-style arrays still using qudt:value (singular) and qudt:datatype must be migrated or retired; the retired DimensionalityShape no longer covers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3075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15568" y="373075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Nested-list prose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73075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descriptions on HomogeneousArray, HeterogenousArray and MultiDimensionalArray still say “a list, where each member is a list”. Going flat means rewriting all three.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6227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5568" y="446227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Engine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46227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The constraints no longer depend on constructs that diverge between engines, but confirmation in TopBraid / Jena ARQ is still worth doing.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19379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15568" y="5193792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3746"/>
                </a:solidFill>
                <a:latin typeface="Calibri"/>
              </a:rPr>
              <a:t>Typing an array's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5193792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2B33"/>
                </a:solidFill>
                <a:latin typeface="Calibri"/>
              </a:rPr>
              <a:t>Whether the type side should get its own specified construct, parallel to the value list — and which case collapses to a single type specification.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236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3"/>
                </a:solidFill>
                <a:latin typeface="Calibri"/>
              </a:rPr>
              <a:t>Design note last revised 2026-08-24. Read the revisions newest-first: the 2026-08-22 Array/ArrayKind split supersedes the 2026-07-27 self-describing array.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46A818752B9F4CBB985E83FAD0E430" ma:contentTypeVersion="3" ma:contentTypeDescription="Create a new document." ma:contentTypeScope="" ma:versionID="7e932c4f3751fc2ebd252abb35c4897a">
  <xsd:schema xmlns:xsd="http://www.w3.org/2001/XMLSchema" xmlns:xs="http://www.w3.org/2001/XMLSchema" xmlns:p="http://schemas.microsoft.com/office/2006/metadata/properties" xmlns:ns2="5f8bc302-f02a-4f83-8524-41cf8cf564d2" targetNamespace="http://schemas.microsoft.com/office/2006/metadata/properties" ma:root="true" ma:fieldsID="73f2604ef1465883c5f3678585903aef" ns2:_="">
    <xsd:import namespace="5f8bc302-f02a-4f83-8524-41cf8cf564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bc302-f02a-4f83-8524-41cf8cf564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F4F187-5340-4518-B5BB-8A26819D169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82BE622-A483-4FA2-856C-6C3A5AD626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71B21D-8B8E-4B87-9FD7-487A379274F3}">
  <ds:schemaRefs>
    <ds:schemaRef ds:uri="5f8bc302-f02a-4f83-8524-41cf8cf564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3159</TotalTime>
  <Words>51</Words>
  <Application>Microsoft Macintosh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QUDT Structured Datatypes  </vt:lpstr>
      <vt:lpstr>Structured Datatypes</vt:lpstr>
      <vt:lpstr>Tuples</vt:lpstr>
      <vt:lpstr>Arrays</vt:lpstr>
      <vt:lpstr>SHACL Validation</vt:lpstr>
      <vt:lpstr>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 QUDT Ontology v3</dc:title>
  <dc:subject/>
  <dc:creator>Steve Ray</dc:creator>
  <cp:keywords/>
  <dc:description/>
  <cp:lastModifiedBy>Ralph Hodgson</cp:lastModifiedBy>
  <cp:revision>263</cp:revision>
  <dcterms:created xsi:type="dcterms:W3CDTF">2020-04-24T17:02:07Z</dcterms:created>
  <dcterms:modified xsi:type="dcterms:W3CDTF">2026-09-21T13:08:28Z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0x010100E246A818752B9F4CBB985E83FAD0E430</vt:lpwstr>
  </property>
</Properties>
</file>